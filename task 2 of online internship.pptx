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8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7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4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2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3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3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0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499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72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623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13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5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585C3-7592-4662-B0C9-FE180E83CA3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9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@paypal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fake-amazon-logi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E36C-5511-8E13-C21B-6DE58D2AD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 created by kavin mehta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DDB8C-599A-5244-BA2E-337BE9D57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 2 :- Phishing Awareness Training</a:t>
            </a:r>
          </a:p>
        </p:txBody>
      </p:sp>
    </p:spTree>
    <p:extLst>
      <p:ext uri="{BB962C8B-B14F-4D97-AF65-F5344CB8AC3E}">
        <p14:creationId xmlns:p14="http://schemas.microsoft.com/office/powerpoint/2010/main" val="32512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6B63-6C94-3E89-7FB1-633CF9F2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FEA0-F88E-D5C6-0367-86D64A81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5835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Phishing is one of the most common cyberattacks used to steal:</a:t>
            </a:r>
          </a:p>
          <a:p>
            <a:pPr lvl="1"/>
            <a:r>
              <a:rPr lang="en-US" dirty="0"/>
              <a:t>Passwords</a:t>
            </a:r>
          </a:p>
          <a:p>
            <a:pPr lvl="1"/>
            <a:r>
              <a:rPr lang="en-US" dirty="0"/>
              <a:t>Banking information</a:t>
            </a:r>
          </a:p>
          <a:p>
            <a:pPr lvl="1"/>
            <a:r>
              <a:rPr lang="en-US" dirty="0"/>
              <a:t>Personal data</a:t>
            </a:r>
          </a:p>
          <a:p>
            <a:pPr lvl="1"/>
            <a:r>
              <a:rPr lang="en-US" dirty="0"/>
              <a:t>Company credentials</a:t>
            </a:r>
          </a:p>
          <a:p>
            <a:r>
              <a:rPr lang="en-US" dirty="0"/>
              <a:t>Attackers trick users into clicking malicious links, downloading malware, or revealing sensitive information.</a:t>
            </a:r>
          </a:p>
          <a:p>
            <a:r>
              <a:rPr lang="en-US" dirty="0"/>
              <a:t>This training module explains how phishing works, how to recognize attacks, and how to stay safe online.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3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0A63-60DF-80B6-2B4D-F4AA24D9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What is Phishing?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B429-6608-55CB-BFE7-8BFF26296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US" dirty="0"/>
              <a:t>Phishing is a cyberattack where attackers pretend to be trusted organizations or people to trick victims into revealing sensitive information.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Common targets include:</a:t>
            </a:r>
          </a:p>
          <a:p>
            <a:pPr lvl="1"/>
            <a:r>
              <a:rPr lang="en-US" dirty="0"/>
              <a:t>Email accounts</a:t>
            </a:r>
          </a:p>
          <a:p>
            <a:pPr lvl="1"/>
            <a:r>
              <a:rPr lang="en-US" dirty="0"/>
              <a:t>Social media accounts</a:t>
            </a:r>
          </a:p>
          <a:p>
            <a:pPr lvl="1"/>
            <a:r>
              <a:rPr lang="en-US" dirty="0"/>
              <a:t>Banking credentials</a:t>
            </a:r>
          </a:p>
          <a:p>
            <a:pPr lvl="1"/>
            <a:r>
              <a:rPr lang="en-US" dirty="0"/>
              <a:t>Corporate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0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1B13-F7C2-2C4C-68AE-99E1DE1D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Types of Phishing Attacks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AEE84-57E3-B52D-B416-2077B33A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Email Phishing</a:t>
            </a:r>
          </a:p>
          <a:p>
            <a:pPr lvl="1"/>
            <a:r>
              <a:rPr lang="en-US" dirty="0"/>
              <a:t>Fake emails pretending to come from:</a:t>
            </a:r>
          </a:p>
          <a:p>
            <a:pPr lvl="1"/>
            <a:r>
              <a:rPr lang="en-US" dirty="0"/>
              <a:t>Banks</a:t>
            </a:r>
          </a:p>
          <a:p>
            <a:pPr lvl="1"/>
            <a:r>
              <a:rPr lang="en-US" dirty="0"/>
              <a:t>Online stores</a:t>
            </a:r>
          </a:p>
          <a:p>
            <a:pPr lvl="1"/>
            <a:r>
              <a:rPr lang="en-US" dirty="0"/>
              <a:t>Government agencies</a:t>
            </a:r>
          </a:p>
          <a:p>
            <a:pPr lvl="1"/>
            <a:r>
              <a:rPr lang="en-US" dirty="0"/>
              <a:t>Delivery companies</a:t>
            </a:r>
          </a:p>
          <a:p>
            <a:pPr lvl="1"/>
            <a:r>
              <a:rPr lang="en-US" dirty="0"/>
              <a:t>IT departments</a:t>
            </a:r>
          </a:p>
          <a:p>
            <a:r>
              <a:rPr lang="en-US" b="1" dirty="0"/>
              <a:t>Example Signs</a:t>
            </a:r>
          </a:p>
          <a:p>
            <a:pPr lvl="1"/>
            <a:r>
              <a:rPr lang="en-US" dirty="0"/>
              <a:t>Urgent language</a:t>
            </a:r>
          </a:p>
          <a:p>
            <a:pPr lvl="1"/>
            <a:r>
              <a:rPr lang="en-US" dirty="0"/>
              <a:t>Suspicious attachments</a:t>
            </a:r>
          </a:p>
          <a:p>
            <a:pPr lvl="1"/>
            <a:r>
              <a:rPr lang="en-US" dirty="0"/>
              <a:t>Fake login pages</a:t>
            </a:r>
          </a:p>
          <a:p>
            <a:pPr lvl="1"/>
            <a:r>
              <a:rPr lang="en-US" dirty="0"/>
              <a:t>Unexpected requests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1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9E55F-D73E-3129-914E-4C1F0400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5" y="269822"/>
            <a:ext cx="11287593" cy="631085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Spear Phishing</a:t>
            </a:r>
          </a:p>
          <a:p>
            <a:pPr lvl="1"/>
            <a:r>
              <a:rPr lang="en-US" dirty="0"/>
              <a:t>Targeted attacks aimed at specific individuals or organizations.</a:t>
            </a:r>
          </a:p>
          <a:p>
            <a:pPr lvl="1"/>
            <a:r>
              <a:rPr lang="en-US" dirty="0"/>
              <a:t>Attackers may use:</a:t>
            </a:r>
          </a:p>
          <a:p>
            <a:pPr lvl="1"/>
            <a:r>
              <a:rPr lang="en-US" dirty="0"/>
              <a:t>Your name</a:t>
            </a:r>
          </a:p>
          <a:p>
            <a:pPr lvl="1"/>
            <a:r>
              <a:rPr lang="en-US" dirty="0"/>
              <a:t>Your job title</a:t>
            </a:r>
          </a:p>
          <a:p>
            <a:pPr lvl="1"/>
            <a:r>
              <a:rPr lang="en-US" dirty="0"/>
              <a:t>Company information</a:t>
            </a:r>
          </a:p>
          <a:p>
            <a:pPr lvl="1"/>
            <a:r>
              <a:rPr lang="en-US" dirty="0"/>
              <a:t>Social media details</a:t>
            </a:r>
          </a:p>
          <a:p>
            <a:pPr lvl="1"/>
            <a:r>
              <a:rPr lang="en-US" dirty="0"/>
              <a:t>These attacks look more convincing because they are personalized.</a:t>
            </a:r>
          </a:p>
          <a:p>
            <a:r>
              <a:rPr lang="en-US" b="1" dirty="0"/>
              <a:t>Smishing</a:t>
            </a:r>
          </a:p>
          <a:p>
            <a:pPr lvl="1"/>
            <a:r>
              <a:rPr lang="en-US" dirty="0"/>
              <a:t>Phishing through SMS text messages.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 	          Your bank account has been locked. Click here to verify.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Vishing</a:t>
            </a:r>
          </a:p>
          <a:p>
            <a:pPr lvl="1"/>
            <a:r>
              <a:rPr lang="en-US" dirty="0"/>
              <a:t>Voice phishing using phone calls.</a:t>
            </a:r>
          </a:p>
          <a:p>
            <a:pPr lvl="1"/>
            <a:r>
              <a:rPr lang="en-US" dirty="0"/>
              <a:t>Attackers pretend to be:</a:t>
            </a:r>
          </a:p>
          <a:p>
            <a:pPr lvl="1"/>
            <a:r>
              <a:rPr lang="en-US" dirty="0"/>
              <a:t>Bank employees</a:t>
            </a:r>
          </a:p>
          <a:p>
            <a:pPr lvl="1"/>
            <a:r>
              <a:rPr lang="en-US" dirty="0"/>
              <a:t>Technical support</a:t>
            </a:r>
          </a:p>
          <a:p>
            <a:pPr lvl="1"/>
            <a:r>
              <a:rPr lang="en-US" dirty="0"/>
              <a:t>Government officials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3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7597-273E-DAB3-5702-69379080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996"/>
            <a:ext cx="10515600" cy="7141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How to Recognize Phishing Emails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C439-31B1-F02C-E416-4D19851A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3"/>
            <a:ext cx="10884108" cy="5218711"/>
          </a:xfrm>
        </p:spPr>
        <p:txBody>
          <a:bodyPr/>
          <a:lstStyle/>
          <a:p>
            <a:r>
              <a:rPr lang="en-US" b="1" dirty="0"/>
              <a:t>Warning Signs</a:t>
            </a:r>
          </a:p>
          <a:p>
            <a:pPr marL="0" indent="0">
              <a:buNone/>
            </a:pPr>
            <a:r>
              <a:rPr lang="en-US" b="1" dirty="0"/>
              <a:t>1. Suspicious Sender Address</a:t>
            </a:r>
          </a:p>
          <a:p>
            <a:r>
              <a:rPr lang="en-US" dirty="0"/>
              <a:t>Example: support-paypal@gmail.com</a:t>
            </a:r>
          </a:p>
          <a:p>
            <a:r>
              <a:rPr lang="en-US" dirty="0"/>
              <a:t>instead of: </a:t>
            </a:r>
            <a:r>
              <a:rPr lang="en-US" dirty="0">
                <a:hlinkClick r:id="rId2"/>
              </a:rPr>
              <a:t>support@paypal.com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Urgent or Threatening Messages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Your account will be suspended.</a:t>
            </a:r>
          </a:p>
          <a:p>
            <a:pPr lvl="1"/>
            <a:r>
              <a:rPr lang="en-US" dirty="0"/>
              <a:t>Immediate action required.</a:t>
            </a:r>
          </a:p>
          <a:p>
            <a:pPr lvl="1"/>
            <a:r>
              <a:rPr lang="en-US" dirty="0"/>
              <a:t>Verify now or lose access.</a:t>
            </a:r>
          </a:p>
          <a:p>
            <a:pPr lvl="1"/>
            <a:r>
              <a:rPr lang="en-US" dirty="0"/>
              <a:t>Attackers try to create panic.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33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A407-FE32-C7D9-F666-4E9DBA41D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832"/>
            <a:ext cx="10515600" cy="62958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Spelling and Grammar Errors</a:t>
            </a:r>
          </a:p>
          <a:p>
            <a:pPr lvl="1"/>
            <a:r>
              <a:rPr lang="en-US" dirty="0"/>
              <a:t>Many phishing emails contain:</a:t>
            </a:r>
          </a:p>
          <a:p>
            <a:pPr lvl="1"/>
            <a:r>
              <a:rPr lang="en-US" dirty="0"/>
              <a:t>Poor grammar</a:t>
            </a:r>
          </a:p>
          <a:p>
            <a:pPr lvl="1"/>
            <a:r>
              <a:rPr lang="en-US" dirty="0"/>
              <a:t>Misspellings</a:t>
            </a:r>
          </a:p>
          <a:p>
            <a:pPr lvl="1"/>
            <a:r>
              <a:rPr lang="en-US" dirty="0"/>
              <a:t>Strange formatting</a:t>
            </a:r>
          </a:p>
          <a:p>
            <a:pPr marL="0" indent="0">
              <a:buNone/>
            </a:pPr>
            <a:r>
              <a:rPr lang="en-US" b="1" dirty="0"/>
              <a:t>4. Suspicious Links</a:t>
            </a:r>
          </a:p>
          <a:p>
            <a:pPr lvl="1"/>
            <a:r>
              <a:rPr lang="en-US" dirty="0"/>
              <a:t>Hover over links before clicking.</a:t>
            </a:r>
          </a:p>
          <a:p>
            <a:pPr marL="457200" lvl="1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Displayed: www.amazon.com</a:t>
            </a:r>
          </a:p>
          <a:p>
            <a:pPr lvl="1"/>
            <a:r>
              <a:rPr lang="en-US" dirty="0"/>
              <a:t>Actual link: </a:t>
            </a:r>
            <a:r>
              <a:rPr lang="en-US" dirty="0">
                <a:hlinkClick r:id="rId2"/>
              </a:rPr>
              <a:t>http://fake-amazon-login.ru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5. Unexpected Attachments</a:t>
            </a:r>
          </a:p>
          <a:p>
            <a:r>
              <a:rPr lang="en-US" dirty="0"/>
              <a:t>Dangerous file types:</a:t>
            </a:r>
          </a:p>
          <a:p>
            <a:pPr lvl="1"/>
            <a:r>
              <a:rPr lang="en-US" dirty="0"/>
              <a:t>.exe</a:t>
            </a:r>
          </a:p>
          <a:p>
            <a:pPr lvl="1"/>
            <a:r>
              <a:rPr lang="en-US" dirty="0"/>
              <a:t>.zip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scr</a:t>
            </a:r>
            <a:endParaRPr lang="en-US" dirty="0"/>
          </a:p>
          <a:p>
            <a:pPr lvl="1"/>
            <a:r>
              <a:rPr lang="en-US" dirty="0"/>
              <a:t>Macro-enabled Office files</a:t>
            </a:r>
          </a:p>
          <a:p>
            <a:pPr lvl="1"/>
            <a:r>
              <a:rPr lang="en-US" dirty="0"/>
              <a:t>Attachments may install malware.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58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FA01-64CD-82F1-8C9B-3771B252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155"/>
            <a:ext cx="10515600" cy="5642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4. Fake Website Detection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47955-E96C-7BB4-4A04-2575F8B17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273"/>
            <a:ext cx="10515600" cy="55613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Check the URL Carefully</a:t>
            </a:r>
          </a:p>
          <a:p>
            <a:r>
              <a:rPr lang="en-US" dirty="0"/>
              <a:t>Look for:</a:t>
            </a:r>
          </a:p>
          <a:p>
            <a:pPr lvl="1"/>
            <a:r>
              <a:rPr lang="en-US" dirty="0"/>
              <a:t>Misspelled domains</a:t>
            </a:r>
          </a:p>
          <a:p>
            <a:pPr lvl="1"/>
            <a:r>
              <a:rPr lang="en-US" dirty="0"/>
              <a:t>Extra characters</a:t>
            </a:r>
          </a:p>
          <a:p>
            <a:pPr lvl="1"/>
            <a:r>
              <a:rPr lang="en-US" dirty="0"/>
              <a:t>Wrong domain endings</a:t>
            </a:r>
          </a:p>
          <a:p>
            <a:r>
              <a:rPr lang="en-US" dirty="0"/>
              <a:t>Examples:paypa1.com , amaz0n.net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HTTPS Does NOT Guarantee Safety</a:t>
            </a:r>
          </a:p>
          <a:p>
            <a:pPr lvl="1"/>
            <a:r>
              <a:rPr lang="en-US" dirty="0"/>
              <a:t>A lock icon only means the connection is encrypted.</a:t>
            </a:r>
          </a:p>
          <a:p>
            <a:pPr lvl="1"/>
            <a:r>
              <a:rPr lang="en-US" dirty="0"/>
              <a:t>Malicious websites can still use HTTPS.</a:t>
            </a:r>
          </a:p>
          <a:p>
            <a:r>
              <a:rPr lang="en-US" b="1" dirty="0"/>
              <a:t>Look for Poor Design</a:t>
            </a:r>
          </a:p>
          <a:p>
            <a:pPr lvl="1"/>
            <a:r>
              <a:rPr lang="en-US" dirty="0"/>
              <a:t>Fake websites often contain:</a:t>
            </a:r>
          </a:p>
          <a:p>
            <a:pPr lvl="1"/>
            <a:r>
              <a:rPr lang="en-US" dirty="0"/>
              <a:t>Low-quality logos</a:t>
            </a:r>
          </a:p>
          <a:p>
            <a:pPr lvl="1"/>
            <a:r>
              <a:rPr lang="en-US" dirty="0"/>
              <a:t>Broken images</a:t>
            </a:r>
          </a:p>
          <a:p>
            <a:pPr lvl="1"/>
            <a:r>
              <a:rPr lang="en-US" dirty="0"/>
              <a:t>Strange layouts</a:t>
            </a:r>
          </a:p>
          <a:p>
            <a:pPr lvl="1"/>
            <a:r>
              <a:rPr lang="en-US" dirty="0"/>
              <a:t>Fake popups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33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D518-223C-6F84-F67A-559FB8B8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854"/>
            <a:ext cx="10515600" cy="4443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5. Social Engineering Tactics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6C4D-42CA-3BD5-FFEC-BA24A90AF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381"/>
            <a:ext cx="10515600" cy="52175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Social engineering manipulates human psychology.</a:t>
            </a:r>
          </a:p>
          <a:p>
            <a:r>
              <a:rPr lang="en-US" b="1" dirty="0"/>
              <a:t>Common Techniques</a:t>
            </a:r>
          </a:p>
          <a:p>
            <a:r>
              <a:rPr lang="en-US" b="1" dirty="0"/>
              <a:t>Fear</a:t>
            </a:r>
          </a:p>
          <a:p>
            <a:pPr lvl="1"/>
            <a:r>
              <a:rPr lang="en-US" dirty="0"/>
              <a:t>Your account has been compromised.</a:t>
            </a:r>
          </a:p>
          <a:p>
            <a:r>
              <a:rPr lang="en-US" b="1" dirty="0"/>
              <a:t>Urgency</a:t>
            </a:r>
          </a:p>
          <a:p>
            <a:pPr lvl="1"/>
            <a:r>
              <a:rPr lang="en-US" dirty="0"/>
              <a:t>Respond within 1 hour.</a:t>
            </a:r>
          </a:p>
          <a:p>
            <a:r>
              <a:rPr lang="en-US" b="1" dirty="0"/>
              <a:t>Authority</a:t>
            </a:r>
          </a:p>
          <a:p>
            <a:pPr lvl="1"/>
            <a:r>
              <a:rPr lang="en-US" dirty="0"/>
              <a:t>Attackers pretend to be:</a:t>
            </a:r>
          </a:p>
          <a:p>
            <a:pPr lvl="1"/>
            <a:r>
              <a:rPr lang="en-US" dirty="0"/>
              <a:t>Managers</a:t>
            </a:r>
          </a:p>
          <a:p>
            <a:pPr lvl="1"/>
            <a:r>
              <a:rPr lang="en-US" dirty="0"/>
              <a:t>IT staff</a:t>
            </a:r>
          </a:p>
          <a:p>
            <a:pPr lvl="1"/>
            <a:r>
              <a:rPr lang="en-US" dirty="0"/>
              <a:t>Police</a:t>
            </a:r>
          </a:p>
          <a:p>
            <a:pPr lvl="1"/>
            <a:r>
              <a:rPr lang="en-US" dirty="0"/>
              <a:t>Government agencies</a:t>
            </a:r>
          </a:p>
          <a:p>
            <a:r>
              <a:rPr lang="en-US" b="1" dirty="0"/>
              <a:t>Curiosity</a:t>
            </a:r>
          </a:p>
          <a:p>
            <a:pPr lvl="1"/>
            <a:r>
              <a:rPr lang="en-US" dirty="0"/>
              <a:t>Salary Update Attached</a:t>
            </a:r>
          </a:p>
          <a:p>
            <a:r>
              <a:rPr lang="en-US" b="1" dirty="0"/>
              <a:t>Rewards</a:t>
            </a:r>
          </a:p>
          <a:p>
            <a:pPr lvl="1"/>
            <a:r>
              <a:rPr lang="en-US" dirty="0"/>
              <a:t>You won a free iPhone.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5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AEFC-7E6B-E530-72A2-EF017F52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715"/>
            <a:ext cx="10515600" cy="6263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Real-World Phishing Examples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C88D9-98CB-392A-11FC-C9D931E7F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032"/>
            <a:ext cx="10515600" cy="548960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 1 — Fake Bank Email</a:t>
            </a:r>
          </a:p>
          <a:p>
            <a:r>
              <a:rPr lang="en-US" dirty="0"/>
              <a:t>Subject:</a:t>
            </a:r>
          </a:p>
          <a:p>
            <a:pPr lvl="1"/>
            <a:r>
              <a:rPr lang="en-US" dirty="0"/>
              <a:t>Urgent: Verify Your Banking Account</a:t>
            </a:r>
          </a:p>
          <a:p>
            <a:pPr lvl="1"/>
            <a:r>
              <a:rPr lang="en-US" dirty="0"/>
              <a:t>Signs of phishing:</a:t>
            </a:r>
          </a:p>
          <a:p>
            <a:pPr lvl="1"/>
            <a:r>
              <a:rPr lang="en-US" dirty="0"/>
              <a:t>Urgent tone</a:t>
            </a:r>
          </a:p>
          <a:p>
            <a:pPr lvl="1"/>
            <a:r>
              <a:rPr lang="en-US" dirty="0"/>
              <a:t>Suspicious link</a:t>
            </a:r>
          </a:p>
          <a:p>
            <a:pPr lvl="1"/>
            <a:r>
              <a:rPr lang="en-US" dirty="0"/>
              <a:t>Requests login credentials</a:t>
            </a:r>
          </a:p>
          <a:p>
            <a:pPr marL="0" indent="0">
              <a:buNone/>
            </a:pPr>
            <a:r>
              <a:rPr lang="en-US" b="1" dirty="0"/>
              <a:t>Example 2 — Fake Microsoft Login Page</a:t>
            </a:r>
          </a:p>
          <a:p>
            <a:r>
              <a:rPr lang="en-US" dirty="0"/>
              <a:t>Attackers clone the Microsoft login page to steal usernames and passwords.</a:t>
            </a:r>
          </a:p>
          <a:p>
            <a:pPr lvl="1"/>
            <a:r>
              <a:rPr lang="en-US" dirty="0"/>
              <a:t>Signs:</a:t>
            </a:r>
          </a:p>
          <a:p>
            <a:pPr lvl="1"/>
            <a:r>
              <a:rPr lang="en-US" dirty="0"/>
              <a:t>Wrong URL</a:t>
            </a:r>
          </a:p>
          <a:p>
            <a:pPr lvl="1"/>
            <a:r>
              <a:rPr lang="en-US" dirty="0"/>
              <a:t>Unexpected login request</a:t>
            </a:r>
          </a:p>
          <a:p>
            <a:pPr lvl="1"/>
            <a:r>
              <a:rPr lang="en-US" dirty="0"/>
              <a:t>Poor formatting</a:t>
            </a:r>
          </a:p>
          <a:p>
            <a:pPr marL="0" indent="0">
              <a:buNone/>
            </a:pPr>
            <a:r>
              <a:rPr lang="en-US" b="1" dirty="0"/>
              <a:t>Example 3 — Delivery Scam</a:t>
            </a:r>
          </a:p>
          <a:p>
            <a:r>
              <a:rPr lang="en-US" dirty="0"/>
              <a:t>Message:</a:t>
            </a:r>
          </a:p>
          <a:p>
            <a:pPr lvl="1"/>
            <a:r>
              <a:rPr lang="en-US" dirty="0"/>
              <a:t>Your package delivery failed. Click here to reschedule.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Steal payment information</a:t>
            </a:r>
          </a:p>
          <a:p>
            <a:pPr lvl="1"/>
            <a:r>
              <a:rPr lang="en-US" dirty="0"/>
              <a:t>Install malware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8674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ADC4-7F56-9ABA-8300-06B4FC5D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77" y="202367"/>
            <a:ext cx="10515600" cy="51929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7. Best Practices to Stay Safe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FF37-3333-24B0-3BED-3C38B5FAC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77" y="1086787"/>
            <a:ext cx="10674246" cy="5771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Never Click Suspicious Links</a:t>
            </a:r>
          </a:p>
          <a:p>
            <a:pPr marL="0" indent="0">
              <a:buNone/>
            </a:pPr>
            <a:r>
              <a:rPr lang="en-US" dirty="0"/>
              <a:t>  Instead:</a:t>
            </a:r>
          </a:p>
          <a:p>
            <a:pPr lvl="1"/>
            <a:r>
              <a:rPr lang="en-US" dirty="0"/>
              <a:t>Open websites manually</a:t>
            </a:r>
          </a:p>
          <a:p>
            <a:pPr lvl="1"/>
            <a:r>
              <a:rPr lang="en-US" dirty="0"/>
              <a:t>Use official apps</a:t>
            </a:r>
          </a:p>
          <a:p>
            <a:pPr marL="0" indent="0">
              <a:buNone/>
            </a:pPr>
            <a:r>
              <a:rPr lang="en-US" b="1" dirty="0"/>
              <a:t>Verify Sender Identity</a:t>
            </a:r>
          </a:p>
          <a:p>
            <a:pPr lvl="1"/>
            <a:r>
              <a:rPr lang="en-US" dirty="0"/>
              <a:t>Contact the organization directly using official contact information.</a:t>
            </a:r>
          </a:p>
          <a:p>
            <a:pPr marL="0" indent="0">
              <a:buNone/>
            </a:pPr>
            <a:r>
              <a:rPr lang="en-US" b="1" dirty="0"/>
              <a:t>Use Multi-Factor Authentication (MFA)</a:t>
            </a:r>
          </a:p>
          <a:p>
            <a:pPr lvl="1"/>
            <a:r>
              <a:rPr lang="en-US" dirty="0"/>
              <a:t>Even if passwords are stolen, MFA adds another security layer.</a:t>
            </a:r>
          </a:p>
          <a:p>
            <a:pPr marL="0" indent="0">
              <a:buNone/>
            </a:pPr>
            <a:r>
              <a:rPr lang="en-US" b="1" dirty="0"/>
              <a:t>Keep Software Updated</a:t>
            </a:r>
          </a:p>
          <a:p>
            <a:pPr lvl="1"/>
            <a:r>
              <a:rPr lang="en-US" dirty="0"/>
              <a:t>Updates patch security vulnerabilities.</a:t>
            </a:r>
          </a:p>
          <a:p>
            <a:pPr marL="0" indent="0">
              <a:buNone/>
            </a:pPr>
            <a:r>
              <a:rPr lang="en-US" b="1" dirty="0"/>
              <a:t>Use Strong Passwords</a:t>
            </a:r>
          </a:p>
          <a:p>
            <a:pPr marL="457200" lvl="1" indent="0">
              <a:buNone/>
            </a:pPr>
            <a:r>
              <a:rPr lang="en-US" dirty="0"/>
              <a:t>Good passwords should:</a:t>
            </a:r>
          </a:p>
          <a:p>
            <a:pPr lvl="2"/>
            <a:r>
              <a:rPr lang="en-US" dirty="0"/>
              <a:t>Include symbols and numbers</a:t>
            </a:r>
          </a:p>
          <a:p>
            <a:pPr lvl="2"/>
            <a:r>
              <a:rPr lang="en-US" dirty="0"/>
              <a:t>Be unique for each account</a:t>
            </a:r>
          </a:p>
          <a:p>
            <a:pPr marL="0" indent="0">
              <a:buNone/>
            </a:pPr>
            <a:r>
              <a:rPr lang="en-US" b="1" dirty="0"/>
              <a:t>Report Suspicious Emails</a:t>
            </a:r>
          </a:p>
          <a:p>
            <a:pPr marL="0" indent="0">
              <a:buNone/>
            </a:pPr>
            <a:r>
              <a:rPr lang="en-US" dirty="0"/>
              <a:t> Notify:</a:t>
            </a:r>
          </a:p>
          <a:p>
            <a:pPr lvl="1"/>
            <a:r>
              <a:rPr lang="en-US" dirty="0"/>
              <a:t>IT department</a:t>
            </a:r>
          </a:p>
          <a:p>
            <a:pPr lvl="1"/>
            <a:r>
              <a:rPr lang="en-US" dirty="0"/>
              <a:t>Email provider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0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47C1-4CC2-4EC4-0418-C48DDCB7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What To Do If You Clicked a Phishing Link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B039-2EFD-BE95-24F7-A312C91E4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16"/>
            <a:ext cx="10515600" cy="467794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Immediate Actions</a:t>
            </a:r>
          </a:p>
          <a:p>
            <a:r>
              <a:rPr lang="en-US" dirty="0"/>
              <a:t>Disconnect from the internet if malware is suspected.</a:t>
            </a:r>
          </a:p>
          <a:p>
            <a:r>
              <a:rPr lang="en-US" dirty="0"/>
              <a:t>Change passwords immediately.</a:t>
            </a:r>
          </a:p>
          <a:p>
            <a:r>
              <a:rPr lang="en-US" dirty="0"/>
              <a:t>Enable MFA.</a:t>
            </a:r>
          </a:p>
          <a:p>
            <a:pPr marL="0" indent="0">
              <a:buNone/>
            </a:pPr>
            <a:r>
              <a:rPr lang="en-US" dirty="0"/>
              <a:t>Run antivirus scans.</a:t>
            </a:r>
          </a:p>
          <a:p>
            <a:r>
              <a:rPr lang="en-US" dirty="0"/>
              <a:t>Inform your organization or bank.</a:t>
            </a:r>
          </a:p>
          <a:p>
            <a:r>
              <a:rPr lang="en-US" dirty="0"/>
              <a:t>Monitor accounts for suspicious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6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C8A-2B70-CD9C-F5A8-FE611914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914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9. Interactive Quiz Section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6A0B-0EC4-C38F-890D-C34058499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5"/>
            <a:ext cx="10515600" cy="47828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Question 1</a:t>
            </a:r>
          </a:p>
          <a:p>
            <a:pPr marL="0" indent="0">
              <a:buNone/>
            </a:pPr>
            <a:r>
              <a:rPr lang="en-US" dirty="0"/>
              <a:t>  Which email is most suspicious?</a:t>
            </a:r>
          </a:p>
          <a:p>
            <a:pPr lvl="1"/>
            <a:r>
              <a:rPr lang="en-US" dirty="0"/>
              <a:t>A. support@amazon.com</a:t>
            </a:r>
          </a:p>
          <a:p>
            <a:pPr lvl="1"/>
            <a:r>
              <a:rPr lang="en-US" dirty="0"/>
              <a:t>B. security-update@arnazon-login.com</a:t>
            </a:r>
          </a:p>
          <a:p>
            <a:pPr lvl="1"/>
            <a:r>
              <a:rPr lang="en-US" dirty="0"/>
              <a:t>C. help@paypal.com</a:t>
            </a:r>
          </a:p>
          <a:p>
            <a:r>
              <a:rPr lang="en-US" dirty="0"/>
              <a:t>Correct Answer: B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Question 2</a:t>
            </a:r>
          </a:p>
          <a:p>
            <a:pPr marL="0" indent="0">
              <a:buNone/>
            </a:pPr>
            <a:r>
              <a:rPr lang="en-US" dirty="0"/>
              <a:t>What should you do before clicking a link?</a:t>
            </a:r>
          </a:p>
          <a:p>
            <a:pPr lvl="1"/>
            <a:r>
              <a:rPr lang="en-US" dirty="0"/>
              <a:t>A. Click immediately</a:t>
            </a:r>
          </a:p>
          <a:p>
            <a:pPr lvl="1"/>
            <a:r>
              <a:rPr lang="en-US" dirty="0"/>
              <a:t>B. Hover over the link to inspect it</a:t>
            </a:r>
          </a:p>
          <a:p>
            <a:pPr lvl="1"/>
            <a:r>
              <a:rPr lang="en-US" dirty="0"/>
              <a:t>C. Ignore all emails</a:t>
            </a:r>
          </a:p>
          <a:p>
            <a:r>
              <a:rPr lang="en-US" dirty="0"/>
              <a:t>Correct Answer: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9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6811-C30F-B97C-A9F7-6C66D54A3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587"/>
            <a:ext cx="10515600" cy="5547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3</a:t>
            </a:r>
          </a:p>
          <a:p>
            <a:pPr marL="0" indent="0">
              <a:buNone/>
            </a:pPr>
            <a:r>
              <a:rPr lang="en-US" dirty="0"/>
              <a:t>  What is MFA?</a:t>
            </a:r>
          </a:p>
          <a:p>
            <a:pPr lvl="1"/>
            <a:r>
              <a:rPr lang="en-US" dirty="0"/>
              <a:t>A. Multiple File Access</a:t>
            </a:r>
          </a:p>
          <a:p>
            <a:pPr lvl="1"/>
            <a:r>
              <a:rPr lang="en-US" dirty="0"/>
              <a:t>B. Multi-Factor Authentication</a:t>
            </a:r>
          </a:p>
          <a:p>
            <a:pPr lvl="1"/>
            <a:r>
              <a:rPr lang="en-US" dirty="0"/>
              <a:t>C. Mail Forwarding Application</a:t>
            </a:r>
          </a:p>
          <a:p>
            <a:r>
              <a:rPr lang="en-US" dirty="0"/>
              <a:t>Correct Answer: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Question 4</a:t>
            </a:r>
          </a:p>
          <a:p>
            <a:pPr marL="0" indent="0">
              <a:buNone/>
            </a:pPr>
            <a:r>
              <a:rPr lang="en-US" dirty="0"/>
              <a:t>  Which tactic do attackers commonly use?</a:t>
            </a:r>
          </a:p>
          <a:p>
            <a:pPr lvl="1"/>
            <a:r>
              <a:rPr lang="en-US" dirty="0"/>
              <a:t>A. Urgency</a:t>
            </a:r>
          </a:p>
          <a:p>
            <a:pPr lvl="1"/>
            <a:r>
              <a:rPr lang="en-US" dirty="0"/>
              <a:t>B. Fear</a:t>
            </a:r>
          </a:p>
          <a:p>
            <a:pPr lvl="1"/>
            <a:r>
              <a:rPr lang="en-US" dirty="0"/>
              <a:t>C. Authority</a:t>
            </a:r>
          </a:p>
          <a:p>
            <a:pPr lvl="1"/>
            <a:r>
              <a:rPr lang="en-US" dirty="0"/>
              <a:t>D. All of the above</a:t>
            </a:r>
          </a:p>
          <a:p>
            <a:r>
              <a:rPr lang="en-US" dirty="0"/>
              <a:t>Correct Answer: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41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4CD5-D70F-DD01-D436-5F9EE659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Summary and  Conclusion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64B96-E83C-1D70-3A16-D73024B36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4962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takeaways: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Be cautious with emails and messages.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Verify links before clicking.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Never share passwords through email.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Enable MFA whenever possible.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Report suspicious activity immediately.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Cybersecurity awareness is one of the strongest defenses against        phishing attacks.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Phishing attacks rely on deception and human mistakes.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By learning to recognize warning signs and following security best practices, users can greatly reduce the risk of becoming victims.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Stay alert, think before clicking, and verify before trusting.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698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</TotalTime>
  <Words>901</Words>
  <Application>Microsoft Office PowerPoint</Application>
  <PresentationFormat>Widescreen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Ppt created by kavin mehta </vt:lpstr>
      <vt:lpstr>Introduction </vt:lpstr>
      <vt:lpstr>1. What is Phishing? </vt:lpstr>
      <vt:lpstr>2. Types of Phishing Attacks </vt:lpstr>
      <vt:lpstr>PowerPoint Presentation</vt:lpstr>
      <vt:lpstr>3. How to Recognize Phishing Emails </vt:lpstr>
      <vt:lpstr>PowerPoint Presentation</vt:lpstr>
      <vt:lpstr>4. Fake Website Detection </vt:lpstr>
      <vt:lpstr>5. Social Engineering Tactics </vt:lpstr>
      <vt:lpstr>6. Real-World Phishing Examples </vt:lpstr>
      <vt:lpstr>7. Best Practices to Stay Safe </vt:lpstr>
      <vt:lpstr>8. What To Do If You Clicked a Phishing Link </vt:lpstr>
      <vt:lpstr>9. Interactive Quiz Section </vt:lpstr>
      <vt:lpstr>PowerPoint Presentation</vt:lpstr>
      <vt:lpstr>10. Summary and 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 mehta</dc:creator>
  <cp:lastModifiedBy>kavin mehta</cp:lastModifiedBy>
  <cp:revision>8</cp:revision>
  <dcterms:created xsi:type="dcterms:W3CDTF">2026-05-14T06:30:34Z</dcterms:created>
  <dcterms:modified xsi:type="dcterms:W3CDTF">2026-05-14T13:57:28Z</dcterms:modified>
</cp:coreProperties>
</file>